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02de1721464daa" /><Relationship Type="http://schemas.openxmlformats.org/officeDocument/2006/relationships/extended-properties" Target="/docProps/app.xml" Id="R51e6a97194154f76" /><Relationship Type="http://schemas.openxmlformats.org/officeDocument/2006/relationships/officeDocument" Target="/ppt/presentation.xml" Id="R1e69a7855fa54fa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112ef05c8b4216"/>
  </p:sldMasterIdLst>
  <p:notesMasterIdLst>
    <p:notesMasterId xmlns:r="http://schemas.openxmlformats.org/officeDocument/2006/relationships" r:id="R33600f7f0e6f4307"/>
  </p:notesMasterIdLst>
  <p:sldIdLst>
    <p:sldId xmlns:r="http://schemas.openxmlformats.org/officeDocument/2006/relationships" id="256" r:id="Re3554aa86c054b1d"/>
    <p:sldId xmlns:r="http://schemas.openxmlformats.org/officeDocument/2006/relationships" id="257" r:id="Rbc573e583abd4c9a"/>
    <p:sldId xmlns:r="http://schemas.openxmlformats.org/officeDocument/2006/relationships" id="258" r:id="Rf83f9f6ca98d423c"/>
    <p:sldId xmlns:r="http://schemas.openxmlformats.org/officeDocument/2006/relationships" id="259" r:id="R114607e480e14b9c"/>
    <p:sldId xmlns:r="http://schemas.openxmlformats.org/officeDocument/2006/relationships" id="260" r:id="R5527f741f85041df"/>
    <p:sldId xmlns:r="http://schemas.openxmlformats.org/officeDocument/2006/relationships" id="261" r:id="R8ea57ebad39a4a3f"/>
    <p:sldId xmlns:r="http://schemas.openxmlformats.org/officeDocument/2006/relationships" id="262" r:id="R6d87c7042c9142e4"/>
    <p:sldId xmlns:r="http://schemas.openxmlformats.org/officeDocument/2006/relationships" id="263" r:id="R57aca3523c0f47d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ee012e99e4c4fc6" /><Relationship Type="http://schemas.openxmlformats.org/officeDocument/2006/relationships/slideMaster" Target="/ppt/slideMasters/slideMaster1.xml" Id="R11112ef05c8b4216" /><Relationship Type="http://schemas.openxmlformats.org/officeDocument/2006/relationships/notesMaster" Target="/ppt/notesMasters/notesMaster1.xml" Id="R33600f7f0e6f4307" /><Relationship Type="http://schemas.openxmlformats.org/officeDocument/2006/relationships/presProps" Target="/ppt/presProps.xml" Id="R7007e26ff59f4d64" /><Relationship Type="http://schemas.openxmlformats.org/officeDocument/2006/relationships/tableStyles" Target="/ppt/tableStyles.xml" Id="Re50f099247604c8c" /><Relationship Type="http://schemas.openxmlformats.org/officeDocument/2006/relationships/slide" Target="/ppt/slides/slide1.xml" Id="Re3554aa86c054b1d" /><Relationship Type="http://schemas.openxmlformats.org/officeDocument/2006/relationships/slide" Target="/ppt/slides/slide2.xml" Id="Rbc573e583abd4c9a" /><Relationship Type="http://schemas.openxmlformats.org/officeDocument/2006/relationships/slide" Target="/ppt/slides/slide3.xml" Id="Rf83f9f6ca98d423c" /><Relationship Type="http://schemas.openxmlformats.org/officeDocument/2006/relationships/slide" Target="/ppt/slides/slide4.xml" Id="R114607e480e14b9c" /><Relationship Type="http://schemas.openxmlformats.org/officeDocument/2006/relationships/slide" Target="/ppt/slides/slide5.xml" Id="R5527f741f85041df" /><Relationship Type="http://schemas.openxmlformats.org/officeDocument/2006/relationships/slide" Target="/ppt/slides/slide6.xml" Id="R8ea57ebad39a4a3f" /><Relationship Type="http://schemas.openxmlformats.org/officeDocument/2006/relationships/slide" Target="/ppt/slides/slide7.xml" Id="R6d87c7042c9142e4" /><Relationship Type="http://schemas.openxmlformats.org/officeDocument/2006/relationships/slide" Target="/ppt/slides/slide8.xml" Id="R57aca3523c0f47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2ac66e625bd46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f8a59aaf2c4d5d" /><Relationship Type="http://schemas.openxmlformats.org/officeDocument/2006/relationships/notesMaster" Target="/ppt/notesMasters/notesMaster1.xml" Id="Re5e9199fc04345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c36eb723fc846ea" /><Relationship Type="http://schemas.openxmlformats.org/officeDocument/2006/relationships/notesMaster" Target="/ppt/notesMasters/notesMaster1.xml" Id="Rc537f615712447c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881fa1c0ae0470a" /><Relationship Type="http://schemas.openxmlformats.org/officeDocument/2006/relationships/notesMaster" Target="/ppt/notesMasters/notesMaster1.xml" Id="R656292ecda61487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e03e536e7704979" /><Relationship Type="http://schemas.openxmlformats.org/officeDocument/2006/relationships/notesMaster" Target="/ppt/notesMasters/notesMaster1.xml" Id="R0e2152e6d1f44d4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aa9e169314a421c" /><Relationship Type="http://schemas.openxmlformats.org/officeDocument/2006/relationships/notesMaster" Target="/ppt/notesMasters/notesMaster1.xml" Id="R30d9afb6c2414e7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dc1d9c1e66b47f7" /><Relationship Type="http://schemas.openxmlformats.org/officeDocument/2006/relationships/notesMaster" Target="/ppt/notesMasters/notesMaster1.xml" Id="Re2edc5a44ca846a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92cb4f7680d4c2b" /><Relationship Type="http://schemas.openxmlformats.org/officeDocument/2006/relationships/notesMaster" Target="/ppt/notesMasters/notesMaster1.xml" Id="R8d2a6c007f4a428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b2773c2488a4d53" /><Relationship Type="http://schemas.openxmlformats.org/officeDocument/2006/relationships/notesMaster" Target="/ppt/notesMasters/notesMaster1.xml" Id="R2c4b8fb80e3548e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lesson and ask students to predict how this topic will influence their own reversible hat.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Bucket Hat for a Cause teacher program and 2026 class outline, Google Classroom/Drive, accessed 11 August 2026.</a:t>
            </a:r>
          </a:p>
          <a:p xmlns:a="http://schemas.openxmlformats.org/drawingml/2006/main">
            <a:r>
              <a:t>- Authorised Bucket Hat Teacher Edition images, Google Drive, accessed 11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map aloud. Students choose the idea they already understand best and the one they need to watch closely.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Bucket Hat for a Cause teacher program and 2026 class outline, Google Classroom/Drive, accessed 11 August 2026.</a:t>
            </a:r>
          </a:p>
          <a:p xmlns:a="http://schemas.openxmlformats.org/drawingml/2006/main">
            <a:r>
              <a:t>- Authorised Bucket Hat Teacher Edition images, Google Drive, accessed 11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Teach: Investigate before deciding. Prompt students to move from observation to design consequence. The image is a discussion source, not decoration.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Bucket Hat for a Cause teacher program and 2026 class outline, Google Classroom/Drive, accessed 11 August 2026.</a:t>
            </a:r>
          </a:p>
          <a:p xmlns:a="http://schemas.openxmlformats.org/drawingml/2006/main">
            <a:r>
              <a:t>- Authorised Bucket Hat Teacher Edition images, Google Drive, accessed 11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Teach: The brief sets direction. Prompt students to move from observation to design consequence. The image is a discussion source, not decoration.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Bucket Hat for a Cause teacher program and 2026 class outline, Google Classroom/Drive, accessed 11 August 2026.</a:t>
            </a:r>
          </a:p>
          <a:p xmlns:a="http://schemas.openxmlformats.org/drawingml/2006/main">
            <a:r>
              <a:t>- Authorised Bucket Hat Teacher Edition images, Google Drive, accessed 11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Teach: Criteria make success testable. Prompt students to move from observation to design consequence. The image is a discussion source, not decoration.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Bucket Hat for a Cause teacher program and 2026 class outline, Google Classroom/Drive, accessed 11 August 2026.</a:t>
            </a:r>
          </a:p>
          <a:p xmlns:a="http://schemas.openxmlformats.org/drawingml/2006/main">
            <a:r>
              <a:t>- Authorised Bucket Hat Teacher Edition images, Google Drive, accessed 11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answer independently, then compare justification with a partner. Accept different decisions when evidence is relevant and specific.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Bucket Hat for a Cause teacher program and 2026 class outline, Google Classroom/Drive, accessed 11 August 2026.</a:t>
            </a:r>
          </a:p>
          <a:p xmlns:a="http://schemas.openxmlformats.org/drawingml/2006/main">
            <a:r>
              <a:t>- Authorised Bucket Hat Teacher Edition images, Google Drive, accessed 11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 analogous response without answering the live question. Ask students to underline the factual support and circle the connection.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Bucket Hat for a Cause teacher program and 2026 class outline, Google Classroom/Drive, accessed 11 August 2026.</a:t>
            </a:r>
          </a:p>
          <a:p xmlns:a="http://schemas.openxmlformats.org/drawingml/2006/main">
            <a:r>
              <a:t>- Authorised Bucket Hat Teacher Edition images, Google Drive, accessed 11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two statements as a quick readiness check. Direct students back to the precise theory section if their answer is vague.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Bucket Hat for a Cause teacher program and 2026 class outline, Google Classroom/Drive, accessed 11 August 2026.</a:t>
            </a:r>
          </a:p>
          <a:p xmlns:a="http://schemas.openxmlformats.org/drawingml/2006/main">
            <a:r>
              <a:t>- Authorised Bucket Hat Teacher Edition images, Google Drive, accessed 11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f35f3548de4ca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95680ae193c43ed" /><Relationship Type="http://schemas.openxmlformats.org/officeDocument/2006/relationships/slideLayout" Target="/ppt/slideLayouts/slideLayout1.xml" Id="R0b6142fee1864b9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6142fee1864b9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9b376fc7ec4a42" /><Relationship Type="http://schemas.openxmlformats.org/officeDocument/2006/relationships/image" Target="/ppt/media/image.png" Id="Rf5669c440f20405e" /><Relationship Type="http://schemas.openxmlformats.org/officeDocument/2006/relationships/notesSlide" Target="/ppt/notesSlides/notesSlide1.xml" Id="R211d424016334ba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46236d49f44728" /><Relationship Type="http://schemas.openxmlformats.org/officeDocument/2006/relationships/notesSlide" Target="/ppt/notesSlides/notesSlide2.xml" Id="R9ca57de0946348c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e1ff46303849b0" /><Relationship Type="http://schemas.openxmlformats.org/officeDocument/2006/relationships/image" Target="/ppt/media/image2.png" Id="R819942f81bc547b1" /><Relationship Type="http://schemas.openxmlformats.org/officeDocument/2006/relationships/notesSlide" Target="/ppt/notesSlides/notesSlide3.xml" Id="R63812f9b6f194bd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4a95e875d84b00" /><Relationship Type="http://schemas.openxmlformats.org/officeDocument/2006/relationships/image" Target="/ppt/media/image3.png" Id="R451ef8da908c40fa" /><Relationship Type="http://schemas.openxmlformats.org/officeDocument/2006/relationships/notesSlide" Target="/ppt/notesSlides/notesSlide4.xml" Id="R9922b61901af41a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96df6fd403463e" /><Relationship Type="http://schemas.openxmlformats.org/officeDocument/2006/relationships/image" Target="/ppt/media/image4.png" Id="R06f9ca9a4c734559" /><Relationship Type="http://schemas.openxmlformats.org/officeDocument/2006/relationships/notesSlide" Target="/ppt/notesSlides/notesSlide5.xml" Id="R0c41cfb0af42437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69438534354be8" /><Relationship Type="http://schemas.openxmlformats.org/officeDocument/2006/relationships/notesSlide" Target="/ppt/notesSlides/notesSlide6.xml" Id="Redd0773da3ba4f2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cbb1d79e53444b" /><Relationship Type="http://schemas.openxmlformats.org/officeDocument/2006/relationships/notesSlide" Target="/ppt/notesSlides/notesSlide7.xml" Id="R8705ca7290a6493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ad158d38f1410b" /><Relationship Type="http://schemas.openxmlformats.org/officeDocument/2006/relationships/notesSlide" Target="/ppt/notesSlides/notesSlide8.xml" Id="Rebd98c441464411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3522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FDE88E-94C9-45E7-BA7A-5030D4F4E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669c440f20405e"/>
          <a:srcRect xmlns:a="http://schemas.openxmlformats.org/drawingml/2006/main" l="24317" t="0" r="2431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oundRect">
            <a:avLst>
              <a:gd name="adj" fmla="val 2308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0AD0D0-D785-44D3-ADD3-0F6F00ECB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19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25D">
              <a:alpha val="9215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0751A7-AD8E-4389-9274-9A811370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0BD57"/>
                </a:solidFill>
              </a:defRPr>
            </a:pPr>
            <a:r>
              <a:rPr sz="1125" b="1">
                <a:solidFill>
                  <a:srgbClr val="F0BD57"/>
                </a:solidFill>
              </a:rPr>
              <a:t>MODULE 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66FAB1-B36A-4CCB-952F-AB7DF1CCA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19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Define the challenge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2AE5A3-C591-4A62-9F88-DDE7B3AD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9DCF7"/>
                </a:solidFill>
              </a:defRPr>
            </a:pPr>
            <a:r>
              <a:rPr sz="1875" b="1">
                <a:solidFill>
                  <a:srgbClr val="E9DCF7"/>
                </a:solidFill>
              </a:rPr>
              <a:t>Bucket Hat for a Cause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0277CF-4D2B-43AD-A071-EEC126BD6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FFFF"/>
                </a:solidFill>
              </a:defRPr>
            </a:pPr>
            <a:r>
              <a:rPr sz="1425">
                <a:solidFill>
                  <a:srgbClr val="FFFFFF"/>
                </a:solidFill>
              </a:rPr>
              <a:t>Year 7/8 Technology Mandatory • Textiles</a:t>
            </a:r>
          </a:p>
        </p:txBody>
      </p:sp>
    </p:spTree>
    <p:extLst>
      <p:ext uri="{BB962C8B-B14F-4D97-AF65-F5344CB8AC3E}">
        <p14:creationId xmlns:p14="http://schemas.microsoft.com/office/powerpoint/2010/main" val="3805639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C6E9C4-B944-4BFF-ACFA-6AE263861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282869-7D7F-4FAD-9F8F-E5A966C1A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63F72"/>
                </a:solidFill>
              </a:defRPr>
            </a:pPr>
            <a:r>
              <a:rPr sz="975" b="1">
                <a:solidFill>
                  <a:srgbClr val="B63F72"/>
                </a:solidFill>
              </a:rPr>
              <a:t>LEARNING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7670CB-4571-493F-8293-1EE371CA2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5225D"/>
                </a:solidFill>
              </a:defRPr>
            </a:pPr>
            <a:r>
              <a:rPr sz="2850" b="1">
                <a:solidFill>
                  <a:srgbClr val="35225D"/>
                </a:solidFill>
              </a:rPr>
              <a:t>Three ideas to take into the workshop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AD88E5-C701-420E-B54B-B7CD7C01B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ADC6E0-2402-4140-9344-8DFF3724F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BUCKET HAT FOR A CAUSE  •  MODULE 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A62C9A-0FAA-45FF-B695-4B09BD144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CC9B70-4605-49FD-A716-D2D10FFAA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382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EE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E00B77-450E-4344-9FDA-188D200B7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47875"/>
            <a:ext cx="523875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3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0D7D90-B2C1-4147-AD37-3439FB893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43125"/>
            <a:ext cx="219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7DB615-3C8C-4C4F-AE28-FEE985DDF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383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5225D"/>
                </a:solidFill>
              </a:defRPr>
            </a:pPr>
            <a:r>
              <a:rPr sz="2025" b="1">
                <a:solidFill>
                  <a:srgbClr val="35225D"/>
                </a:solidFill>
              </a:rPr>
              <a:t>Investigate before deciding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19E626-0075-4944-87DB-315E463C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10382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DB5273-F5ED-407E-9B9D-DF9B9FF79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05175"/>
            <a:ext cx="523875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017F72-C224-4030-A54C-F91EC62E4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00425"/>
            <a:ext cx="219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5225D"/>
                </a:solidFill>
              </a:defRPr>
            </a:pPr>
            <a:r>
              <a:rPr sz="1350" b="1">
                <a:solidFill>
                  <a:srgbClr val="35225D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3B0965-EE3B-4A3A-924B-F763CE9F6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956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5225D"/>
                </a:solidFill>
              </a:defRPr>
            </a:pPr>
            <a:r>
              <a:rPr sz="2025" b="1">
                <a:solidFill>
                  <a:srgbClr val="35225D"/>
                </a:solidFill>
              </a:rPr>
              <a:t>The brief sets direction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4F6830-992C-4E26-A5DA-9999BF569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24350"/>
            <a:ext cx="10382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EE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C5B485-4A72-439D-8C76-E8134CBF4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62475"/>
            <a:ext cx="523875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3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B80009-84E4-4D98-9A77-131D4D4A4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57725"/>
            <a:ext cx="219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4E1E80-A604-4BDD-AA55-187CFF80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529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5225D"/>
                </a:solidFill>
              </a:defRPr>
            </a:pPr>
            <a:r>
              <a:rPr sz="2025" b="1">
                <a:solidFill>
                  <a:srgbClr val="35225D"/>
                </a:solidFill>
              </a:rPr>
              <a:t>Criteria make success testable</a:t>
            </a:r>
          </a:p>
        </p:txBody>
      </p:sp>
    </p:spTree>
    <p:extLst>
      <p:ext uri="{BB962C8B-B14F-4D97-AF65-F5344CB8AC3E}">
        <p14:creationId xmlns:p14="http://schemas.microsoft.com/office/powerpoint/2010/main" val="19132518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63228F-D705-4395-B39F-19587EB57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002FB2-1247-4086-9512-B72C1A58F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63F72"/>
                </a:solidFill>
              </a:defRPr>
            </a:pPr>
            <a:r>
              <a:rPr sz="975" b="1">
                <a:solidFill>
                  <a:srgbClr val="B63F72"/>
                </a:solidFill>
              </a:rPr>
              <a:t>THEORY 1 OF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87A5FD-0FE2-4B89-B334-A1150916A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5225D"/>
                </a:solidFill>
              </a:defRPr>
            </a:pPr>
            <a:r>
              <a:rPr sz="2850" b="1">
                <a:solidFill>
                  <a:srgbClr val="35225D"/>
                </a:solidFill>
              </a:rPr>
              <a:t>Investigate before deciding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91663D-4AC7-4F7B-938D-893BA6752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0404C2-BF25-402F-ABB9-100B2A56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BUCKET HAT FOR A CAUSE  •  MODULE 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9EC082-EDA0-45FC-8CD6-93BC053A7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3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9942f81bc547b1"/>
          <a:srcRect xmlns:a="http://schemas.openxmlformats.org/drawingml/2006/main" l="4408" t="0" r="440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666875"/>
            <a:ext cx="47625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F8E160-C160-45B0-996E-C2083D6D0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429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8735D9-3649-421A-A86F-C88FE9CC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4762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5225D"/>
                </a:solidFill>
              </a:defRPr>
            </a:pPr>
            <a:r>
              <a:rPr sz="2025" b="1">
                <a:solidFill>
                  <a:srgbClr val="35225D"/>
                </a:solidFill>
              </a:rPr>
              <a:t>NOTICE</a:t>
            </a:r>
          </a:p>
          <a:p xmlns:a="http://schemas.openxmlformats.org/drawingml/2006/main">
            <a:pPr>
              <a:defRPr sz="2025" b="1">
                <a:solidFill>
                  <a:srgbClr val="35225D"/>
                </a:solidFill>
              </a:defRPr>
            </a:pPr>
            <a:r>
              <a:rPr sz="2025" b="1">
                <a:solidFill>
                  <a:srgbClr val="35225D"/>
                </a:solidFill>
              </a:rPr>
              <a:t>What can you observe?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A83728-D7F6-41DA-B900-7A900B8D9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54292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959E3D-8C18-458F-8C58-E797F5029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9223A"/>
                </a:solidFill>
              </a:defRPr>
            </a:pPr>
            <a:r>
              <a:rPr sz="1575" b="1">
                <a:solidFill>
                  <a:srgbClr val="29223A"/>
                </a:solidFill>
              </a:rPr>
              <a:t>Write one evidence-backed sentence before moving on.</a:t>
            </a:r>
          </a:p>
        </p:txBody>
      </p:sp>
    </p:spTree>
    <p:extLst>
      <p:ext uri="{BB962C8B-B14F-4D97-AF65-F5344CB8AC3E}">
        <p14:creationId xmlns:p14="http://schemas.microsoft.com/office/powerpoint/2010/main" val="19883978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850850-2FB6-433C-A398-E0E62F3A4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0648B6-75C9-41A5-9949-5627AA239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63F72"/>
                </a:solidFill>
              </a:defRPr>
            </a:pPr>
            <a:r>
              <a:rPr sz="975" b="1">
                <a:solidFill>
                  <a:srgbClr val="B63F72"/>
                </a:solidFill>
              </a:rPr>
              <a:t>THEORY 2 OF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4D66C1-0E54-48A9-8084-2B7FAE238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5225D"/>
                </a:solidFill>
              </a:defRPr>
            </a:pPr>
            <a:r>
              <a:rPr sz="2850" b="1">
                <a:solidFill>
                  <a:srgbClr val="35225D"/>
                </a:solidFill>
              </a:rPr>
              <a:t>The brief sets direction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A1567A-75F2-40CC-A2F3-DAC62F791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49B487-B437-422F-8CB1-580516251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BUCKET HAT FOR A CAUSE  •  MODULE 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E4AA24-5F13-4067-9A5B-AC3FCFC2E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4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1ef8da908c40fa"/>
          <a:srcRect xmlns:a="http://schemas.openxmlformats.org/drawingml/2006/main" l="3894" t="0" r="389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666875"/>
            <a:ext cx="47625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19312F-F50D-4680-8A89-20F37D078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429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E01938-CEF1-488E-986B-27BF4708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4762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5225D"/>
                </a:solidFill>
              </a:defRPr>
            </a:pPr>
            <a:r>
              <a:rPr sz="2025" b="1">
                <a:solidFill>
                  <a:srgbClr val="35225D"/>
                </a:solidFill>
              </a:rPr>
              <a:t>CONNECT</a:t>
            </a:r>
          </a:p>
          <a:p xmlns:a="http://schemas.openxmlformats.org/drawingml/2006/main">
            <a:pPr>
              <a:defRPr sz="2025" b="1">
                <a:solidFill>
                  <a:srgbClr val="35225D"/>
                </a:solidFill>
              </a:defRPr>
            </a:pPr>
            <a:r>
              <a:rPr sz="2025" b="1">
                <a:solidFill>
                  <a:srgbClr val="35225D"/>
                </a:solidFill>
              </a:rPr>
              <a:t>How does it affect function, appearance or responsibility?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C87948-2D70-4D8E-A1DE-ECFA9044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54292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BB5C5F-B593-4A68-B27D-E80AF23B8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9223A"/>
                </a:solidFill>
              </a:defRPr>
            </a:pPr>
            <a:r>
              <a:rPr sz="1575" b="1">
                <a:solidFill>
                  <a:srgbClr val="29223A"/>
                </a:solidFill>
              </a:rPr>
              <a:t>Write one evidence-backed sentence before moving on.</a:t>
            </a:r>
          </a:p>
        </p:txBody>
      </p:sp>
    </p:spTree>
    <p:extLst>
      <p:ext uri="{BB962C8B-B14F-4D97-AF65-F5344CB8AC3E}">
        <p14:creationId xmlns:p14="http://schemas.microsoft.com/office/powerpoint/2010/main" val="5958042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C9BD1E-D061-408E-AD86-A9D15BC37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5EDEFE-56B9-4EB1-B08C-793E663FD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63F72"/>
                </a:solidFill>
              </a:defRPr>
            </a:pPr>
            <a:r>
              <a:rPr sz="975" b="1">
                <a:solidFill>
                  <a:srgbClr val="B63F72"/>
                </a:solidFill>
              </a:rPr>
              <a:t>THEORY 3 OF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B685E7-7CE8-4EBD-B1A7-6C4D37472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5225D"/>
                </a:solidFill>
              </a:defRPr>
            </a:pPr>
            <a:r>
              <a:rPr sz="2850" b="1">
                <a:solidFill>
                  <a:srgbClr val="35225D"/>
                </a:solidFill>
              </a:rPr>
              <a:t>Criteria make success testable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E4187A-F0B6-4EB1-AC2E-1EA88235F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1B190D-7248-4289-8F1B-E3F3ADD60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BUCKET HAT FOR A CAUSE  •  MODULE 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0BAFBF-6B28-4266-81B2-C00172A4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5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f9ca9a4c734559"/>
          <a:srcRect xmlns:a="http://schemas.openxmlformats.org/drawingml/2006/main" l="4751" t="0" r="475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666875"/>
            <a:ext cx="47625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584F42-14E4-4C25-995C-0707FD1AD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429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091C9E-5268-4F54-84CB-5E95E578E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4762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5225D"/>
                </a:solidFill>
              </a:defRPr>
            </a:pPr>
            <a:r>
              <a:rPr sz="2025" b="1">
                <a:solidFill>
                  <a:srgbClr val="35225D"/>
                </a:solidFill>
              </a:rPr>
              <a:t>DECIDE</a:t>
            </a:r>
          </a:p>
          <a:p xmlns:a="http://schemas.openxmlformats.org/drawingml/2006/main">
            <a:pPr>
              <a:defRPr sz="2025" b="1">
                <a:solidFill>
                  <a:srgbClr val="35225D"/>
                </a:solidFill>
              </a:defRPr>
            </a:pPr>
            <a:r>
              <a:rPr sz="2025" b="1">
                <a:solidFill>
                  <a:srgbClr val="35225D"/>
                </a:solidFill>
              </a:rPr>
              <a:t>What will you do in your own project?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5F5F3B-56A5-409C-BEDF-A6D904D9D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54292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FECE9B-4C5D-4D41-86E9-34F789D93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9223A"/>
                </a:solidFill>
              </a:defRPr>
            </a:pPr>
            <a:r>
              <a:rPr sz="1575" b="1">
                <a:solidFill>
                  <a:srgbClr val="29223A"/>
                </a:solidFill>
              </a:rPr>
              <a:t>Write one evidence-backed sentence before moving on.</a:t>
            </a:r>
          </a:p>
        </p:txBody>
      </p:sp>
    </p:spTree>
    <p:extLst>
      <p:ext uri="{BB962C8B-B14F-4D97-AF65-F5344CB8AC3E}">
        <p14:creationId xmlns:p14="http://schemas.microsoft.com/office/powerpoint/2010/main" val="13273375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A51FD3-B71F-4FC5-9084-32031AA6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E5B806-BCEF-4891-A246-BA99E8B25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63F72"/>
                </a:solidFill>
              </a:defRPr>
            </a:pPr>
            <a:r>
              <a:rPr sz="975" b="1">
                <a:solidFill>
                  <a:srgbClr val="B63F72"/>
                </a:solidFill>
              </a:rPr>
              <a:t>LEARNING 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CF4A76-DF29-4FFE-87CD-B18EFB456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5225D"/>
                </a:solidFill>
              </a:defRPr>
            </a:pPr>
            <a:r>
              <a:rPr sz="2850" b="1">
                <a:solidFill>
                  <a:srgbClr val="35225D"/>
                </a:solidFill>
              </a:rPr>
              <a:t>Can you apply the idea?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713AC8-C334-4D82-A875-3172B8A3E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4B3FD3-E2C3-4B36-87EC-24D67B8AE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BUCKET HAT FOR A CAUSE  •  MODULE 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17FD67-9E0E-46EE-95F4-6609C96AC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D900E1-35D6-495B-A8E1-3441173DB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0477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352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61320E-98B7-4B23-9AA8-C975A8A61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52650"/>
            <a:ext cx="960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Which design decision would best demonstrate: “The brief sets direction”?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A69810-8F5E-40B0-A256-06201193A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05250"/>
            <a:ext cx="23812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C27587-C270-4DD4-B7F5-73DDA5AA7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00050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5225D"/>
                </a:solidFill>
              </a:defRPr>
            </a:pPr>
            <a:r>
              <a:rPr sz="1350" b="1">
                <a:solidFill>
                  <a:srgbClr val="35225D"/>
                </a:solidFill>
              </a:rPr>
              <a:t>Choose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EECC7F-A10E-451E-9487-5532DC3B2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905250"/>
            <a:ext cx="23812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89EC09-D6E9-4725-8688-4AFCA97F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400050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5225D"/>
                </a:solidFill>
              </a:defRPr>
            </a:pPr>
            <a:r>
              <a:rPr sz="1350" b="1">
                <a:solidFill>
                  <a:srgbClr val="35225D"/>
                </a:solidFill>
              </a:rPr>
              <a:t>Justify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AFC65D-9CC7-413A-ADFA-C9E71009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05250"/>
            <a:ext cx="23812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D9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31D053-BB79-4754-A283-1833F55B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0050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5225D"/>
                </a:solidFill>
              </a:defRPr>
            </a:pPr>
            <a:r>
              <a:rPr sz="1350" b="1">
                <a:solidFill>
                  <a:srgbClr val="35225D"/>
                </a:solidFill>
              </a:rPr>
              <a:t>Check evidence</a:t>
            </a:r>
          </a:p>
        </p:txBody>
      </p:sp>
    </p:spTree>
    <p:extLst>
      <p:ext uri="{BB962C8B-B14F-4D97-AF65-F5344CB8AC3E}">
        <p14:creationId xmlns:p14="http://schemas.microsoft.com/office/powerpoint/2010/main" val="7936989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AB01E6-962B-4A5D-A230-38E3BA15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730FF9-DECE-488F-BBDD-BB98EF827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63F72"/>
                </a:solidFill>
              </a:defRPr>
            </a:pPr>
            <a:r>
              <a:rPr sz="975" b="1">
                <a:solidFill>
                  <a:srgbClr val="B63F72"/>
                </a:solidFill>
              </a:rPr>
              <a:t>WRITTEN RESPONSE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9947E7-D020-423D-99F6-467878C0A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5225D"/>
                </a:solidFill>
              </a:defRPr>
            </a:pPr>
            <a:r>
              <a:rPr sz="2850" b="1">
                <a:solidFill>
                  <a:srgbClr val="35225D"/>
                </a:solidFill>
              </a:rPr>
              <a:t>Use RSEC to build a strong paragraph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2008C7-539E-4D79-8F43-F074F260D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CCE03A-F61F-4510-9460-4A44B777E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BUCKET HAT FOR A CAUSE  •  MODULE 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C142CB-968B-4977-A6EF-56854B127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3D33AD-B2FA-45E3-9085-3DAEC39FB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52600"/>
            <a:ext cx="5524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3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8351CE-3E8B-46BE-8597-24B40589A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478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5F17AB-18E9-4053-B3A6-5699AE5C0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1927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225D"/>
                </a:solidFill>
              </a:defRPr>
            </a:pPr>
            <a:r>
              <a:rPr sz="1725" b="1">
                <a:solidFill>
                  <a:srgbClr val="35225D"/>
                </a:solidFill>
              </a:rPr>
              <a:t>Respond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8B0F3B-32CA-42C9-AB03-33266509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288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9223A"/>
                </a:solidFill>
              </a:defRPr>
            </a:pPr>
            <a:r>
              <a:rPr sz="1575">
                <a:solidFill>
                  <a:srgbClr val="29223A"/>
                </a:solidFill>
              </a:rPr>
              <a:t>Answer the question directly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536B59-1C3D-414D-A096-CB24E7C5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5524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1E33F8-872F-47CD-BB71-054C15AB8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432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5225D"/>
                </a:solidFill>
              </a:defRPr>
            </a:pPr>
            <a:r>
              <a:rPr sz="1350" b="1">
                <a:solidFill>
                  <a:srgbClr val="35225D"/>
                </a:solidFill>
              </a:rPr>
              <a:t>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D05B6E-858B-4F05-B202-70D6A044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1462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225D"/>
                </a:solidFill>
              </a:defRPr>
            </a:pPr>
            <a:r>
              <a:rPr sz="1725" b="1">
                <a:solidFill>
                  <a:srgbClr val="35225D"/>
                </a:solidFill>
              </a:rPr>
              <a:t>Support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53112A-36D8-4A57-8533-C5CF0EC65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241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9223A"/>
                </a:solidFill>
              </a:defRPr>
            </a:pPr>
            <a:r>
              <a:rPr sz="1575">
                <a:solidFill>
                  <a:srgbClr val="29223A"/>
                </a:solidFill>
              </a:rPr>
              <a:t>Name a taught fact or observation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020D4B-7842-4740-AB57-4DB53EA53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43300"/>
            <a:ext cx="5524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3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67B807-F133-4049-8C00-686545F98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385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E7ED20-7742-4429-AA3A-9E089969B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0997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225D"/>
                </a:solidFill>
              </a:defRPr>
            </a:pPr>
            <a:r>
              <a:rPr sz="1725" b="1">
                <a:solidFill>
                  <a:srgbClr val="35225D"/>
                </a:solidFill>
              </a:rPr>
              <a:t>Explain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219983-2B24-452A-9BE8-8B452E7BF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195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9223A"/>
                </a:solidFill>
              </a:defRPr>
            </a:pPr>
            <a:r>
              <a:rPr sz="1575">
                <a:solidFill>
                  <a:srgbClr val="29223A"/>
                </a:solidFill>
              </a:rPr>
              <a:t>Show how it affects the design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4FE5F8-774B-402F-BA16-B165C7138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38650"/>
            <a:ext cx="5524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3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1BB8C9-A874-49ED-8F57-C27E59673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339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1E0DAD-E6CF-4D6C-A533-31535AC3F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0532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225D"/>
                </a:solidFill>
              </a:defRPr>
            </a:pPr>
            <a:r>
              <a:rPr sz="1725" b="1">
                <a:solidFill>
                  <a:srgbClr val="35225D"/>
                </a:solidFill>
              </a:rPr>
              <a:t>Connect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C27040-CBEE-4A95-B239-915838304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148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9223A"/>
                </a:solidFill>
              </a:defRPr>
            </a:pPr>
            <a:r>
              <a:rPr sz="1575">
                <a:solidFill>
                  <a:srgbClr val="29223A"/>
                </a:solidFill>
              </a:rPr>
              <a:t>Link back to purpose or criteria</a:t>
            </a:r>
          </a:p>
        </p:txBody>
      </p:sp>
    </p:spTree>
    <p:extLst>
      <p:ext uri="{BB962C8B-B14F-4D97-AF65-F5344CB8AC3E}">
        <p14:creationId xmlns:p14="http://schemas.microsoft.com/office/powerpoint/2010/main" val="1043701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9F841B-1AD1-4A15-B2DF-37B06BEB2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5A4F8E-3554-4953-A0A1-10CF1763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63F72"/>
                </a:solidFill>
              </a:defRPr>
            </a:pPr>
            <a:r>
              <a:rPr sz="975" b="1">
                <a:solidFill>
                  <a:srgbClr val="B63F72"/>
                </a:solidFill>
              </a:rPr>
              <a:t>EXIT TICKET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E11D94-C380-4E28-B366-D36C6E36F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5225D"/>
                </a:solidFill>
              </a:defRPr>
            </a:pPr>
            <a:r>
              <a:rPr sz="2850" b="1">
                <a:solidFill>
                  <a:srgbClr val="35225D"/>
                </a:solidFill>
              </a:rPr>
              <a:t>Leave with a decision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1CF7A3-304D-4F6E-AF90-1E9835887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68D960-41E3-406C-9891-4CE8648D9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BUCKET HAT FOR A CAUSE  •  MODULE 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DFB6B5-6F9C-49DE-A4F1-99C84D142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8DF328-DE1C-4268-AB67-D9D34B967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4775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6C4336-270C-4CCB-9A6A-8F841FF99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2669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B63F72"/>
                </a:solidFill>
              </a:defRPr>
            </a:pPr>
            <a:r>
              <a:rPr sz="3300" b="1">
                <a:solidFill>
                  <a:srgbClr val="B63F72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8DB864-2BEE-4B5C-9EF5-228E6B45C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324100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5225D"/>
                </a:solidFill>
              </a:defRPr>
            </a:pPr>
            <a:r>
              <a:rPr sz="2250" b="1">
                <a:solidFill>
                  <a:srgbClr val="35225D"/>
                </a:solidFill>
              </a:rPr>
              <a:t>One new idea I can explain…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76176E-3A5B-42C1-A397-1AB0C0D6A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38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B63F72"/>
                </a:solidFill>
              </a:defRPr>
            </a:pPr>
            <a:r>
              <a:rPr sz="3300" b="1">
                <a:solidFill>
                  <a:srgbClr val="B63F72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07E021-5C0B-4767-BF60-9591C664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295650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5225D"/>
                </a:solidFill>
              </a:defRPr>
            </a:pPr>
            <a:r>
              <a:rPr sz="2250" b="1">
                <a:solidFill>
                  <a:srgbClr val="35225D"/>
                </a:solidFill>
              </a:rPr>
              <a:t>One action I will take in my folio or practical work…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06B02D-3D4B-41C4-8014-33D0508F9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095875"/>
            <a:ext cx="53340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29C387-970C-4918-8F1B-30B292FBB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191125"/>
            <a:ext cx="502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5225D"/>
                </a:solidFill>
              </a:defRPr>
            </a:pPr>
            <a:r>
              <a:rPr sz="1350" b="1">
                <a:solidFill>
                  <a:srgbClr val="35225D"/>
                </a:solidFill>
              </a:rPr>
              <a:t>Save your evidence before you leave</a:t>
            </a:r>
          </a:p>
        </p:txBody>
      </p:sp>
    </p:spTree>
    <p:extLst>
      <p:ext uri="{BB962C8B-B14F-4D97-AF65-F5344CB8AC3E}">
        <p14:creationId xmlns:p14="http://schemas.microsoft.com/office/powerpoint/2010/main" val="18112915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2026-08-11T03:16:14.4750000Z</dcterms:created>
  <dcterms:modified xsi:type="dcterms:W3CDTF">2026-08-11T03:16:14.4750000Z</dcterms:modified>
</coreProperties>
</file>